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F1 Score</c:v>
                </c:pt>
              </c:strCache>
            </c:strRef>
          </c:tx>
          <c:spPr>
            <a:solidFill>
              <a:srgbClr val="F9616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E2761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XGBoost
(Tuned)</c:v>
                  </c:pt>
                  <c:pt idx="1">
                    <c:v>LightGBM
(Tuned)</c:v>
                  </c:pt>
                  <c:pt idx="2">
                    <c:v>Stacking
Ensemble</c:v>
                  </c:pt>
                  <c:pt idx="3">
                    <c:v>MLP
Neural Net</c:v>
                  </c:pt>
                  <c:pt idx="4">
                    <c:v>Logistic
Regression</c:v>
                  </c:pt>
                  <c:pt idx="5">
                    <c:v>Random
Forest</c:v>
                  </c:pt>
                  <c:pt idx="6">
                    <c:v>Dummy
Baseline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0.91</c:v>
                </c:pt>
                <c:pt idx="1">
                  <c:v>0.9</c:v>
                </c:pt>
                <c:pt idx="2">
                  <c:v>0.89</c:v>
                </c:pt>
                <c:pt idx="3">
                  <c:v>0.89</c:v>
                </c:pt>
                <c:pt idx="4">
                  <c:v>0.82</c:v>
                </c:pt>
                <c:pt idx="5">
                  <c:v>0.89</c:v>
                </c:pt>
                <c:pt idx="6">
                  <c:v>0.29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E2761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C757D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C757D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Impact</c:v>
                </c:pt>
              </c:strCache>
            </c:strRef>
          </c:tx>
          <c:spPr>
            <a:solidFill>
              <a:srgbClr val="F9616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E2761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High Stress Flag</c:v>
                  </c:pt>
                  <c:pt idx="1">
                    <c:v>Overtime Index</c:v>
                  </c:pt>
                  <c:pt idx="2">
                    <c:v>Tenure Risk Window</c:v>
                  </c:pt>
                  <c:pt idx="3">
                    <c:v>Low Wellbeing</c:v>
                  </c:pt>
                  <c:pt idx="4">
                    <c:v>Tenure Years</c:v>
                  </c:pt>
                  <c:pt idx="5">
                    <c:v>Satisfaction Gap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</c:v>
                </c:pt>
                <c:pt idx="1">
                  <c:v>2.8</c:v>
                </c:pt>
                <c:pt idx="2">
                  <c:v>1.5</c:v>
                </c:pt>
                <c:pt idx="3">
                  <c:v>1.4</c:v>
                </c:pt>
                <c:pt idx="4">
                  <c:v>1.2</c:v>
                </c:pt>
                <c:pt idx="5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E2761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C757D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6-1.png"/><Relationship Id="rId3" Type="http://schemas.openxmlformats.org/officeDocument/2006/relationships/image" Target="../media/image-6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F96167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914400"/>
            <a:ext cx="640080" cy="6400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554480" y="914400"/>
            <a:ext cx="6858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b="1" spc="60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WORKPULSE</a:t>
            </a:r>
            <a:endParaRPr lang="en-US" sz="4800" dirty="0"/>
          </a:p>
        </p:txBody>
      </p:sp>
      <p:sp>
        <p:nvSpPr>
          <p:cNvPr id="6" name="Text 3"/>
          <p:cNvSpPr/>
          <p:nvPr/>
        </p:nvSpPr>
        <p:spPr>
          <a:xfrm>
            <a:off x="731520" y="17373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Employee Burnout Early Warning System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731520" y="26517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DB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Briefing  |  Capstone Project</a:t>
            </a:r>
            <a:endParaRPr lang="en-US" sz="14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2286000"/>
            <a:ext cx="2560320" cy="25603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731520" y="41148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DB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Graduate Programme in AI &amp; Machine Learning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96167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274320"/>
            <a:ext cx="411480" cy="4114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27432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Business Problem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731520" y="91440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 burnout costs billions annually through turnover, absenteeism, and lost productivity — yet most companies detect it only after employees resign.</a:t>
            </a:r>
            <a:endParaRPr lang="en-US" sz="13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274320"/>
            <a:ext cx="2011680" cy="201168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731520" y="2011680"/>
            <a:ext cx="201168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4"/>
          <p:cNvSpPr/>
          <p:nvPr/>
        </p:nvSpPr>
        <p:spPr>
          <a:xfrm>
            <a:off x="731520" y="2011680"/>
            <a:ext cx="2011680" cy="457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9" name="Text 5"/>
          <p:cNvSpPr/>
          <p:nvPr/>
        </p:nvSpPr>
        <p:spPr>
          <a:xfrm>
            <a:off x="731520" y="219456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$322B</a:t>
            </a:r>
            <a:endParaRPr lang="en-US" sz="3800" dirty="0"/>
          </a:p>
        </p:txBody>
      </p:sp>
      <p:sp>
        <p:nvSpPr>
          <p:cNvPr id="10" name="Text 6"/>
          <p:cNvSpPr/>
          <p:nvPr/>
        </p:nvSpPr>
        <p:spPr>
          <a:xfrm>
            <a:off x="868680" y="3017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global cost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employee turnover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3017520" y="2011680"/>
            <a:ext cx="201168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3017520" y="2011680"/>
            <a:ext cx="2011680" cy="457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3" name="Text 9"/>
          <p:cNvSpPr/>
          <p:nvPr/>
        </p:nvSpPr>
        <p:spPr>
          <a:xfrm>
            <a:off x="3017520" y="219456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76%</a:t>
            </a:r>
            <a:endParaRPr lang="en-US" sz="3800" dirty="0"/>
          </a:p>
        </p:txBody>
      </p:sp>
      <p:sp>
        <p:nvSpPr>
          <p:cNvPr id="14" name="Text 10"/>
          <p:cNvSpPr/>
          <p:nvPr/>
        </p:nvSpPr>
        <p:spPr>
          <a:xfrm>
            <a:off x="3154680" y="3017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employees report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burnout symptoms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5303520" y="2011680"/>
            <a:ext cx="201168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5303520" y="2011680"/>
            <a:ext cx="2011680" cy="45720"/>
          </a:xfrm>
          <a:prstGeom prst="rect">
            <a:avLst/>
          </a:prstGeom>
          <a:solidFill>
            <a:srgbClr val="17A2B8"/>
          </a:solidFill>
          <a:ln/>
        </p:spPr>
      </p:sp>
      <p:sp>
        <p:nvSpPr>
          <p:cNvPr id="17" name="Text 13"/>
          <p:cNvSpPr/>
          <p:nvPr/>
        </p:nvSpPr>
        <p:spPr>
          <a:xfrm>
            <a:off x="5303520" y="219456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7A2B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3.4×</a:t>
            </a:r>
            <a:endParaRPr lang="en-US" sz="3800" dirty="0"/>
          </a:p>
        </p:txBody>
      </p:sp>
      <p:sp>
        <p:nvSpPr>
          <p:cNvPr id="18" name="Text 14"/>
          <p:cNvSpPr/>
          <p:nvPr/>
        </p:nvSpPr>
        <p:spPr>
          <a:xfrm>
            <a:off x="5440680" y="3017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attrition in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burnout-affected teams</a:t>
            </a:r>
            <a:endParaRPr lang="en-US" sz="1100" dirty="0"/>
          </a:p>
        </p:txBody>
      </p:sp>
      <p:sp>
        <p:nvSpPr>
          <p:cNvPr id="19" name="Text 15"/>
          <p:cNvSpPr/>
          <p:nvPr/>
        </p:nvSpPr>
        <p:spPr>
          <a:xfrm>
            <a:off x="731520" y="438912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ADB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Gallup State of the Global Workplace 2024, WHO Burnout Classification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96167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228600"/>
            <a:ext cx="411480" cy="4114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22860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Our Solution: WorkPulse</a:t>
            </a:r>
            <a:endParaRPr lang="en-US" sz="280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91440"/>
            <a:ext cx="2011680" cy="201168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731520" y="82296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machine learning system that predicts burnout risk before it leads to attrition — enabling proactive, targeted HR interventions.</a:t>
            </a:r>
            <a:endParaRPr lang="en-US" sz="1300" dirty="0"/>
          </a:p>
        </p:txBody>
      </p:sp>
      <p:sp>
        <p:nvSpPr>
          <p:cNvPr id="7" name="Shape 3"/>
          <p:cNvSpPr/>
          <p:nvPr/>
        </p:nvSpPr>
        <p:spPr>
          <a:xfrm>
            <a:off x="731520" y="1554480"/>
            <a:ext cx="3657600" cy="1188720"/>
          </a:xfrm>
          <a:prstGeom prst="rect">
            <a:avLst/>
          </a:prstGeom>
          <a:solidFill>
            <a:srgbClr val="F8F9FA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4"/>
          <p:cNvSpPr/>
          <p:nvPr/>
        </p:nvSpPr>
        <p:spPr>
          <a:xfrm>
            <a:off x="731520" y="1554480"/>
            <a:ext cx="54864" cy="1188720"/>
          </a:xfrm>
          <a:prstGeom prst="rect">
            <a:avLst/>
          </a:prstGeom>
          <a:solidFill>
            <a:srgbClr val="F96167"/>
          </a:solidFill>
          <a:ln/>
        </p:spPr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691640"/>
            <a:ext cx="320040" cy="32004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325880" y="166420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Early Detection</a:t>
            </a:r>
            <a:endParaRPr lang="en-US" sz="1500" dirty="0"/>
          </a:p>
        </p:txBody>
      </p:sp>
      <p:sp>
        <p:nvSpPr>
          <p:cNvPr id="11" name="Text 6"/>
          <p:cNvSpPr/>
          <p:nvPr/>
        </p:nvSpPr>
        <p:spPr>
          <a:xfrm>
            <a:off x="960120" y="210312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Flags at-risk employees weeks before symptoms escalate</a:t>
            </a:r>
            <a:endParaRPr lang="en-US" sz="1100" dirty="0"/>
          </a:p>
        </p:txBody>
      </p:sp>
      <p:sp>
        <p:nvSpPr>
          <p:cNvPr id="12" name="Shape 7"/>
          <p:cNvSpPr/>
          <p:nvPr/>
        </p:nvSpPr>
        <p:spPr>
          <a:xfrm>
            <a:off x="4846320" y="1554480"/>
            <a:ext cx="3657600" cy="1188720"/>
          </a:xfrm>
          <a:prstGeom prst="rect">
            <a:avLst/>
          </a:prstGeom>
          <a:solidFill>
            <a:srgbClr val="F8F9FA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3" name="Shape 8"/>
          <p:cNvSpPr/>
          <p:nvPr/>
        </p:nvSpPr>
        <p:spPr>
          <a:xfrm>
            <a:off x="4846320" y="1554480"/>
            <a:ext cx="54864" cy="1188720"/>
          </a:xfrm>
          <a:prstGeom prst="rect">
            <a:avLst/>
          </a:prstGeom>
          <a:solidFill>
            <a:srgbClr val="F96167"/>
          </a:solidFill>
          <a:ln/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1691640"/>
            <a:ext cx="320040" cy="32004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5440680" y="166420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Explainable AI</a:t>
            </a:r>
            <a:endParaRPr lang="en-US" sz="1500" dirty="0"/>
          </a:p>
        </p:txBody>
      </p:sp>
      <p:sp>
        <p:nvSpPr>
          <p:cNvPr id="16" name="Text 10"/>
          <p:cNvSpPr/>
          <p:nvPr/>
        </p:nvSpPr>
        <p:spPr>
          <a:xfrm>
            <a:off x="5074920" y="210312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explanations tell managers exactly which factors drive risk</a:t>
            </a:r>
            <a:endParaRPr lang="en-US" sz="1100" dirty="0"/>
          </a:p>
        </p:txBody>
      </p:sp>
      <p:sp>
        <p:nvSpPr>
          <p:cNvPr id="17" name="Shape 11"/>
          <p:cNvSpPr/>
          <p:nvPr/>
        </p:nvSpPr>
        <p:spPr>
          <a:xfrm>
            <a:off x="731520" y="3017520"/>
            <a:ext cx="3657600" cy="1188720"/>
          </a:xfrm>
          <a:prstGeom prst="rect">
            <a:avLst/>
          </a:prstGeom>
          <a:solidFill>
            <a:srgbClr val="F8F9FA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731520" y="3017520"/>
            <a:ext cx="54864" cy="1188720"/>
          </a:xfrm>
          <a:prstGeom prst="rect">
            <a:avLst/>
          </a:prstGeom>
          <a:solidFill>
            <a:srgbClr val="F96167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3154680"/>
            <a:ext cx="320040" cy="320040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1325880" y="312724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Fair &amp; Auditable</a:t>
            </a:r>
            <a:endParaRPr lang="en-US" sz="1500" dirty="0"/>
          </a:p>
        </p:txBody>
      </p:sp>
      <p:sp>
        <p:nvSpPr>
          <p:cNvPr id="21" name="Text 14"/>
          <p:cNvSpPr/>
          <p:nvPr/>
        </p:nvSpPr>
        <p:spPr>
          <a:xfrm>
            <a:off x="960120" y="356616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Bias-tested across gender, age, and income groups</a:t>
            </a:r>
            <a:endParaRPr lang="en-US" sz="1100" dirty="0"/>
          </a:p>
        </p:txBody>
      </p:sp>
      <p:sp>
        <p:nvSpPr>
          <p:cNvPr id="22" name="Shape 15"/>
          <p:cNvSpPr/>
          <p:nvPr/>
        </p:nvSpPr>
        <p:spPr>
          <a:xfrm>
            <a:off x="4846320" y="3017520"/>
            <a:ext cx="3657600" cy="1188720"/>
          </a:xfrm>
          <a:prstGeom prst="rect">
            <a:avLst/>
          </a:prstGeom>
          <a:solidFill>
            <a:srgbClr val="F8F9FA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4846320" y="3017520"/>
            <a:ext cx="54864" cy="1188720"/>
          </a:xfrm>
          <a:prstGeom prst="rect">
            <a:avLst/>
          </a:prstGeom>
          <a:solidFill>
            <a:srgbClr val="F96167"/>
          </a:solidFill>
          <a:ln/>
        </p:spPr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29200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5440680" y="312724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Actionable Output</a:t>
            </a:r>
            <a:endParaRPr lang="en-US" sz="1500" dirty="0"/>
          </a:p>
        </p:txBody>
      </p:sp>
      <p:sp>
        <p:nvSpPr>
          <p:cNvPr id="26" name="Text 18"/>
          <p:cNvSpPr/>
          <p:nvPr/>
        </p:nvSpPr>
        <p:spPr>
          <a:xfrm>
            <a:off x="5074920" y="356616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scores + intervention recommendations per employee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96167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228600"/>
            <a:ext cx="365760" cy="3657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34440" y="2286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It Works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960120" y="1005840"/>
            <a:ext cx="914400" cy="914400"/>
          </a:xfrm>
          <a:prstGeom prst="ellipse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960120" y="1005840"/>
            <a:ext cx="914400" cy="91440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7" name="Text 4"/>
          <p:cNvSpPr/>
          <p:nvPr/>
        </p:nvSpPr>
        <p:spPr>
          <a:xfrm>
            <a:off x="960120" y="100584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800" dirty="0"/>
          </a:p>
        </p:txBody>
      </p:sp>
      <p:sp>
        <p:nvSpPr>
          <p:cNvPr id="8" name="Shape 5"/>
          <p:cNvSpPr/>
          <p:nvPr/>
        </p:nvSpPr>
        <p:spPr>
          <a:xfrm>
            <a:off x="2011680" y="1463040"/>
            <a:ext cx="731520" cy="0"/>
          </a:xfrm>
          <a:prstGeom prst="line">
            <a:avLst/>
          </a:prstGeom>
          <a:noFill/>
          <a:ln w="25400">
            <a:solidFill>
              <a:srgbClr val="ADB5BD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48640" y="21031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Collect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548640" y="246888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 survey data, work hours, satisfaction scores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3154680" y="1005840"/>
            <a:ext cx="914400" cy="914400"/>
          </a:xfrm>
          <a:prstGeom prst="ellipse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154680" y="1005840"/>
            <a:ext cx="914400" cy="91440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3" name="Text 10"/>
          <p:cNvSpPr/>
          <p:nvPr/>
        </p:nvSpPr>
        <p:spPr>
          <a:xfrm>
            <a:off x="3154680" y="100584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800" dirty="0"/>
          </a:p>
        </p:txBody>
      </p:sp>
      <p:sp>
        <p:nvSpPr>
          <p:cNvPr id="14" name="Shape 11"/>
          <p:cNvSpPr/>
          <p:nvPr/>
        </p:nvSpPr>
        <p:spPr>
          <a:xfrm>
            <a:off x="4206240" y="1463040"/>
            <a:ext cx="731520" cy="0"/>
          </a:xfrm>
          <a:prstGeom prst="line">
            <a:avLst/>
          </a:prstGeom>
          <a:noFill/>
          <a:ln w="25400">
            <a:solidFill>
              <a:srgbClr val="ADB5B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2743200" y="21031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Analyse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2743200" y="246888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identifies burnout patterns from 13 key factors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5349240" y="1005840"/>
            <a:ext cx="914400" cy="914400"/>
          </a:xfrm>
          <a:prstGeom prst="ellipse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5349240" y="1005840"/>
            <a:ext cx="914400" cy="91440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9" name="Text 16"/>
          <p:cNvSpPr/>
          <p:nvPr/>
        </p:nvSpPr>
        <p:spPr>
          <a:xfrm>
            <a:off x="5349240" y="100584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800" dirty="0"/>
          </a:p>
        </p:txBody>
      </p:sp>
      <p:sp>
        <p:nvSpPr>
          <p:cNvPr id="20" name="Shape 17"/>
          <p:cNvSpPr/>
          <p:nvPr/>
        </p:nvSpPr>
        <p:spPr>
          <a:xfrm>
            <a:off x="6400800" y="1463040"/>
            <a:ext cx="731520" cy="0"/>
          </a:xfrm>
          <a:prstGeom prst="line">
            <a:avLst/>
          </a:prstGeom>
          <a:noFill/>
          <a:ln w="25400">
            <a:solidFill>
              <a:srgbClr val="ADB5BD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937760" y="21031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Predict</a:t>
            </a:r>
            <a:endParaRPr lang="en-US" sz="1700" dirty="0"/>
          </a:p>
        </p:txBody>
      </p:sp>
      <p:sp>
        <p:nvSpPr>
          <p:cNvPr id="22" name="Text 19"/>
          <p:cNvSpPr/>
          <p:nvPr/>
        </p:nvSpPr>
        <p:spPr>
          <a:xfrm>
            <a:off x="4937760" y="246888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employee gets a risk score (0-100%)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7543800" y="1005840"/>
            <a:ext cx="914400" cy="914400"/>
          </a:xfrm>
          <a:prstGeom prst="ellipse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7543800" y="1005840"/>
            <a:ext cx="914400" cy="91440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25" name="Text 22"/>
          <p:cNvSpPr/>
          <p:nvPr/>
        </p:nvSpPr>
        <p:spPr>
          <a:xfrm>
            <a:off x="7543800" y="100584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800" dirty="0"/>
          </a:p>
        </p:txBody>
      </p:sp>
      <p:sp>
        <p:nvSpPr>
          <p:cNvPr id="26" name="Text 23"/>
          <p:cNvSpPr/>
          <p:nvPr/>
        </p:nvSpPr>
        <p:spPr>
          <a:xfrm>
            <a:off x="7132320" y="21031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</a:t>
            </a:r>
            <a:endParaRPr lang="en-US" sz="1700" dirty="0"/>
          </a:p>
        </p:txBody>
      </p:sp>
      <p:sp>
        <p:nvSpPr>
          <p:cNvPr id="27" name="Text 24"/>
          <p:cNvSpPr/>
          <p:nvPr/>
        </p:nvSpPr>
        <p:spPr>
          <a:xfrm>
            <a:off x="7132320" y="246888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Managers receive alerts + intervention guidance</a:t>
            </a:r>
            <a:endParaRPr lang="en-US" sz="1100" dirty="0"/>
          </a:p>
        </p:txBody>
      </p:sp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3383280"/>
            <a:ext cx="365760" cy="365760"/>
          </a:xfrm>
          <a:prstGeom prst="rect">
            <a:avLst/>
          </a:prstGeom>
        </p:spPr>
      </p:pic>
      <p:pic>
        <p:nvPicPr>
          <p:cNvPr id="2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0" y="3383280"/>
            <a:ext cx="365760" cy="365760"/>
          </a:xfrm>
          <a:prstGeom prst="rect">
            <a:avLst/>
          </a:prstGeom>
        </p:spPr>
      </p:pic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0" y="3383280"/>
            <a:ext cx="365760" cy="365760"/>
          </a:xfrm>
          <a:prstGeom prst="rect">
            <a:avLst/>
          </a:prstGeom>
        </p:spPr>
      </p:pic>
      <p:pic>
        <p:nvPicPr>
          <p:cNvPr id="3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80960" y="3383280"/>
            <a:ext cx="365760" cy="365760"/>
          </a:xfrm>
          <a:prstGeom prst="rect">
            <a:avLst/>
          </a:prstGeom>
        </p:spPr>
      </p:pic>
      <p:sp>
        <p:nvSpPr>
          <p:cNvPr id="32" name="Shape 25"/>
          <p:cNvSpPr/>
          <p:nvPr/>
        </p:nvSpPr>
        <p:spPr>
          <a:xfrm>
            <a:off x="731520" y="3840480"/>
            <a:ext cx="7680960" cy="914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33" name="Text 26"/>
          <p:cNvSpPr/>
          <p:nvPr/>
        </p:nvSpPr>
        <p:spPr>
          <a:xfrm>
            <a:off x="914400" y="393192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Foundation: </a:t>
            </a:r>
            <a:pPr indent="0" marL="0">
              <a:buNone/>
            </a:pPr>
            <a:r>
              <a:rPr lang="en-US" sz="1100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44,220 employee records from 3 validated HR datasets, augmented to 500K rows. 13 engineered features selected by consensus across 3 statistical methods.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96167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228600"/>
            <a:ext cx="411480" cy="4114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2286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Results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731520" y="1097280"/>
            <a:ext cx="2468880" cy="2743200"/>
          </a:xfrm>
          <a:prstGeom prst="rect">
            <a:avLst/>
          </a:prstGeom>
          <a:solidFill>
            <a:srgbClr val="0F1B3D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31520" y="1097280"/>
            <a:ext cx="2468880" cy="45720"/>
          </a:xfrm>
          <a:prstGeom prst="rect">
            <a:avLst/>
          </a:prstGeom>
          <a:solidFill>
            <a:srgbClr val="F9E795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0" y="1280160"/>
            <a:ext cx="502920" cy="50292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731520" y="182880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9E79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91%</a:t>
            </a:r>
            <a:endParaRPr lang="en-US" sz="4800" dirty="0"/>
          </a:p>
        </p:txBody>
      </p:sp>
      <p:sp>
        <p:nvSpPr>
          <p:cNvPr id="9" name="Text 5"/>
          <p:cNvSpPr/>
          <p:nvPr/>
        </p:nvSpPr>
        <p:spPr>
          <a:xfrm>
            <a:off x="731520" y="274320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Score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1005840" y="310896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DB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Best-in-class balance of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ADB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 and recall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3566160" y="1097280"/>
            <a:ext cx="2468880" cy="2743200"/>
          </a:xfrm>
          <a:prstGeom prst="rect">
            <a:avLst/>
          </a:prstGeom>
          <a:solidFill>
            <a:srgbClr val="0F1B3D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3566160" y="1097280"/>
            <a:ext cx="2468880" cy="45720"/>
          </a:xfrm>
          <a:prstGeom prst="rect">
            <a:avLst/>
          </a:prstGeom>
          <a:solidFill>
            <a:srgbClr val="F9E795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0560" y="1280160"/>
            <a:ext cx="502920" cy="50292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566160" y="182880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9E79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99%</a:t>
            </a:r>
            <a:endParaRPr lang="en-US" sz="4800" dirty="0"/>
          </a:p>
        </p:txBody>
      </p:sp>
      <p:sp>
        <p:nvSpPr>
          <p:cNvPr id="15" name="Text 10"/>
          <p:cNvSpPr/>
          <p:nvPr/>
        </p:nvSpPr>
        <p:spPr>
          <a:xfrm>
            <a:off x="3566160" y="274320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Score</a:t>
            </a:r>
            <a:endParaRPr lang="en-US" sz="1500" dirty="0"/>
          </a:p>
        </p:txBody>
      </p:sp>
      <p:sp>
        <p:nvSpPr>
          <p:cNvPr id="16" name="Text 11"/>
          <p:cNvSpPr/>
          <p:nvPr/>
        </p:nvSpPr>
        <p:spPr>
          <a:xfrm>
            <a:off x="3840480" y="310896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DB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Near-perfect discrimination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ADB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 risk groups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400800" y="1097280"/>
            <a:ext cx="2468880" cy="2743200"/>
          </a:xfrm>
          <a:prstGeom prst="rect">
            <a:avLst/>
          </a:prstGeom>
          <a:solidFill>
            <a:srgbClr val="0F1B3D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6400800" y="1097280"/>
            <a:ext cx="2468880" cy="45720"/>
          </a:xfrm>
          <a:prstGeom prst="rect">
            <a:avLst/>
          </a:prstGeom>
          <a:solidFill>
            <a:srgbClr val="F9E795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0" y="1280160"/>
            <a:ext cx="502920" cy="502920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6400800" y="182880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9E79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90%</a:t>
            </a:r>
            <a:endParaRPr lang="en-US" sz="4800" dirty="0"/>
          </a:p>
        </p:txBody>
      </p:sp>
      <p:sp>
        <p:nvSpPr>
          <p:cNvPr id="21" name="Text 15"/>
          <p:cNvSpPr/>
          <p:nvPr/>
        </p:nvSpPr>
        <p:spPr>
          <a:xfrm>
            <a:off x="6400800" y="274320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500" dirty="0"/>
          </a:p>
        </p:txBody>
      </p:sp>
      <p:sp>
        <p:nvSpPr>
          <p:cNvPr id="22" name="Text 16"/>
          <p:cNvSpPr/>
          <p:nvPr/>
        </p:nvSpPr>
        <p:spPr>
          <a:xfrm>
            <a:off x="6675120" y="310896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DB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Catches 90% of all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ADB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at-risk employees</a:t>
            </a:r>
            <a:endParaRPr lang="en-US" sz="1000" dirty="0"/>
          </a:p>
        </p:txBody>
      </p:sp>
      <p:sp>
        <p:nvSpPr>
          <p:cNvPr id="23" name="Text 17"/>
          <p:cNvSpPr/>
          <p:nvPr/>
        </p:nvSpPr>
        <p:spPr>
          <a:xfrm>
            <a:off x="731520" y="41148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ADB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model configs tested across 5 phases: Baseline → Trees → Ensembles → Deep Learning → Stacking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96167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228600"/>
            <a:ext cx="365760" cy="3657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34440" y="22860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 Comparison</a:t>
            </a:r>
            <a:endParaRPr lang="en-US" sz="3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914400"/>
          <a:ext cx="82296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4251960"/>
            <a:ext cx="274320" cy="274320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1097280" y="42519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A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selected as production model: best balance of accuracy, fairness, and training speed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96167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228600"/>
            <a:ext cx="365760" cy="3657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34440" y="2286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Drives Burnout?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731520" y="77724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analysis reveals the top factors pushing employees toward burnout risk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188720"/>
          <a:ext cx="8229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4297680"/>
            <a:ext cx="274320" cy="274320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1097280" y="42976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A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Actionable insight: Overtime and stress are the strongest levers HR can influence directly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96167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228600"/>
            <a:ext cx="365760" cy="3657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34440" y="22860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Ethical AI &amp; Fairness</a:t>
            </a:r>
            <a:endParaRPr lang="en-US" sz="280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91440"/>
            <a:ext cx="2103120" cy="210312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731520" y="77724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Audited across 3 sensitive attributes for equitable treatment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280160"/>
          <a:ext cx="54864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822960"/>
                <a:gridCol w="822960"/>
                <a:gridCol w="822960"/>
                <a:gridCol w="7315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Fairness Metric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ADB5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DB5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DB5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DB5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Gender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ADB5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DB5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DB5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DB5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ADB5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DB5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DB5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DB5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Income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ADB5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DB5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DB5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DB5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Fair?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ADB5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DB5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DB5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DB5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Demographic Parity (&gt;0.80)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ADB5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DB5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DB5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DB5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ADB5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DB5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DB5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DB5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ADB5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DB5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DB5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DB5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ADB5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DB5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DB5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DB5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8A7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ADB5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DB5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DB5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DB5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Equalized Odds (gap &lt;0.10)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ADB5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DB5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DB5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DB5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ADB5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DB5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DB5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DB5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ADB5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DB5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DB5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DB5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ADB5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DB5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DB5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DB5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8A7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ADB5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DB5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DB5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DB5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Disparate Impact (&gt;0.80)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ADB5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DB5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DB5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DB5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ADB5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DB5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DB5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DB5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ADB5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DB5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DB5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DB5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ADB5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DB5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DB5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DB5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8A7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ADB5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DB5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DB5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DB5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3"/>
          <p:cNvSpPr/>
          <p:nvPr/>
        </p:nvSpPr>
        <p:spPr>
          <a:xfrm>
            <a:off x="731520" y="3017520"/>
            <a:ext cx="7680960" cy="1554480"/>
          </a:xfrm>
          <a:prstGeom prst="rect">
            <a:avLst/>
          </a:prstGeom>
          <a:solidFill>
            <a:srgbClr val="F8F9FA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108960"/>
            <a:ext cx="320040" cy="320040"/>
          </a:xfrm>
          <a:prstGeom prst="rect">
            <a:avLst/>
          </a:prstGeom>
        </p:spPr>
      </p:pic>
      <p:sp>
        <p:nvSpPr>
          <p:cNvPr id="10" name="Text 4"/>
          <p:cNvSpPr/>
          <p:nvPr/>
        </p:nvSpPr>
        <p:spPr>
          <a:xfrm>
            <a:off x="1371600" y="310896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Mitigation Strategies Implemented</a:t>
            </a:r>
            <a:endParaRPr lang="en-US" sz="1400" dirty="0"/>
          </a:p>
        </p:txBody>
      </p:sp>
      <p:sp>
        <p:nvSpPr>
          <p:cNvPr id="11" name="Text 5"/>
          <p:cNvSpPr/>
          <p:nvPr/>
        </p:nvSpPr>
        <p:spPr>
          <a:xfrm>
            <a:off x="914400" y="35204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Group-specific threshold adjustment </a:t>
            </a:r>
            <a:pPr indent="0" marL="0">
              <a:buNone/>
            </a:pPr>
            <a:r>
              <a:rPr lang="en-US" sz="1100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equalise true positive rates across gender groups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Class-weighted re-training </a:t>
            </a:r>
            <a:pPr indent="0" marL="0">
              <a:buNone/>
            </a:pPr>
            <a:r>
              <a:rPr lang="en-US" sz="1100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balance learning signal across subpopulations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Proxy feature correlation audit </a:t>
            </a:r>
            <a:pPr indent="0" marL="0">
              <a:buNone/>
            </a:pPr>
            <a:r>
              <a:rPr lang="en-US" sz="1100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detect and flag indirect discrimination pathways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96167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228600"/>
            <a:ext cx="365760" cy="3657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34440" y="2286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Return on Investment</a:t>
            </a:r>
            <a:endParaRPr lang="en-US" sz="340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286000"/>
            <a:ext cx="2286000" cy="228600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1097280"/>
            <a:ext cx="2560320" cy="2560320"/>
          </a:xfrm>
          <a:prstGeom prst="rect">
            <a:avLst/>
          </a:prstGeom>
          <a:solidFill>
            <a:srgbClr val="0F1B3D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Text 3"/>
          <p:cNvSpPr/>
          <p:nvPr/>
        </p:nvSpPr>
        <p:spPr>
          <a:xfrm>
            <a:off x="594360" y="12344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DB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Without WorkPulse</a:t>
            </a:r>
            <a:endParaRPr lang="en-US" sz="1200" dirty="0"/>
          </a:p>
        </p:txBody>
      </p:sp>
      <p:sp>
        <p:nvSpPr>
          <p:cNvPr id="8" name="Text 4"/>
          <p:cNvSpPr/>
          <p:nvPr/>
        </p:nvSpPr>
        <p:spPr>
          <a:xfrm>
            <a:off x="457200" y="16459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DC3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$4.5M</a:t>
            </a:r>
            <a:endParaRPr lang="en-US" sz="4400" dirty="0"/>
          </a:p>
        </p:txBody>
      </p:sp>
      <p:sp>
        <p:nvSpPr>
          <p:cNvPr id="9" name="Text 5"/>
          <p:cNvSpPr/>
          <p:nvPr/>
        </p:nvSpPr>
        <p:spPr>
          <a:xfrm>
            <a:off x="731520" y="26517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DB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turnover cost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ADB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(300 departures × $15K)</a:t>
            </a:r>
            <a:endParaRPr lang="en-US" sz="1000" dirty="0"/>
          </a:p>
        </p:txBody>
      </p:sp>
      <p:sp>
        <p:nvSpPr>
          <p:cNvPr id="10" name="Shape 6"/>
          <p:cNvSpPr/>
          <p:nvPr/>
        </p:nvSpPr>
        <p:spPr>
          <a:xfrm>
            <a:off x="3291840" y="1097280"/>
            <a:ext cx="2560320" cy="2560320"/>
          </a:xfrm>
          <a:prstGeom prst="rect">
            <a:avLst/>
          </a:prstGeom>
          <a:solidFill>
            <a:srgbClr val="0F1B3D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3429000" y="12344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DB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Projected Savings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3291840" y="16459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8A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$2.7M</a:t>
            </a:r>
            <a:endParaRPr lang="en-US" sz="4400" dirty="0"/>
          </a:p>
        </p:txBody>
      </p:sp>
      <p:sp>
        <p:nvSpPr>
          <p:cNvPr id="13" name="Text 9"/>
          <p:cNvSpPr/>
          <p:nvPr/>
        </p:nvSpPr>
        <p:spPr>
          <a:xfrm>
            <a:off x="3566160" y="26517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DB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catches 90% of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ADB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at-risk employees early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6126480" y="1097280"/>
            <a:ext cx="2560320" cy="2560320"/>
          </a:xfrm>
          <a:prstGeom prst="rect">
            <a:avLst/>
          </a:prstGeom>
          <a:solidFill>
            <a:srgbClr val="0F1B3D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5" name="Text 11"/>
          <p:cNvSpPr/>
          <p:nvPr/>
        </p:nvSpPr>
        <p:spPr>
          <a:xfrm>
            <a:off x="6263640" y="12344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DB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ROI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6126480" y="16459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9E79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620%</a:t>
            </a:r>
            <a:endParaRPr lang="en-US" sz="4400" dirty="0"/>
          </a:p>
        </p:txBody>
      </p:sp>
      <p:sp>
        <p:nvSpPr>
          <p:cNvPr id="17" name="Text 13"/>
          <p:cNvSpPr/>
          <p:nvPr/>
        </p:nvSpPr>
        <p:spPr>
          <a:xfrm>
            <a:off x="6400800" y="26517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DB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Based on $450K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ADB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cost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731520" y="41148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DB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Assumptions: 2,000 employees, 15% attrition baseline, $15K avg replacement cost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96167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228600"/>
            <a:ext cx="365760" cy="3657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34440" y="2286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Risks &amp; Considerations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731520" y="914400"/>
            <a:ext cx="7680960" cy="62179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51560"/>
            <a:ext cx="365760" cy="36576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417320" y="96012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 Quality</a:t>
            </a:r>
            <a:endParaRPr lang="en-US" sz="1300" dirty="0"/>
          </a:p>
        </p:txBody>
      </p:sp>
      <p:sp>
        <p:nvSpPr>
          <p:cNvPr id="8" name="Text 4"/>
          <p:cNvSpPr/>
          <p:nvPr/>
        </p:nvSpPr>
        <p:spPr>
          <a:xfrm>
            <a:off x="3200400" y="100584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trained on survey data; real org data may differ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7589520" y="1078992"/>
            <a:ext cx="365760" cy="365760"/>
          </a:xfrm>
          <a:prstGeom prst="ellipse">
            <a:avLst/>
          </a:prstGeom>
          <a:solidFill>
            <a:srgbClr val="FF9800"/>
          </a:solidFill>
          <a:ln/>
        </p:spPr>
      </p:sp>
      <p:sp>
        <p:nvSpPr>
          <p:cNvPr id="10" name="Text 6"/>
          <p:cNvSpPr/>
          <p:nvPr/>
        </p:nvSpPr>
        <p:spPr>
          <a:xfrm>
            <a:off x="7589520" y="10789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731520" y="1664208"/>
            <a:ext cx="7680960" cy="62179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801368"/>
            <a:ext cx="365760" cy="36576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417320" y="1709928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Privacy</a:t>
            </a:r>
            <a:endParaRPr lang="en-US" sz="1300" dirty="0"/>
          </a:p>
        </p:txBody>
      </p:sp>
      <p:sp>
        <p:nvSpPr>
          <p:cNvPr id="14" name="Text 9"/>
          <p:cNvSpPr/>
          <p:nvPr/>
        </p:nvSpPr>
        <p:spPr>
          <a:xfrm>
            <a:off x="3200400" y="175564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Transparent comms and opt-in participation essential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7589520" y="1828800"/>
            <a:ext cx="365760" cy="365760"/>
          </a:xfrm>
          <a:prstGeom prst="ellipse">
            <a:avLst/>
          </a:prstGeom>
          <a:solidFill>
            <a:srgbClr val="DC3545"/>
          </a:solidFill>
          <a:ln/>
        </p:spPr>
      </p:sp>
      <p:sp>
        <p:nvSpPr>
          <p:cNvPr id="16" name="Text 11"/>
          <p:cNvSpPr/>
          <p:nvPr/>
        </p:nvSpPr>
        <p:spPr>
          <a:xfrm>
            <a:off x="7589520" y="18288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731520" y="2414016"/>
            <a:ext cx="7680960" cy="62179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2551176"/>
            <a:ext cx="365760" cy="36576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417320" y="2459736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Over-Reliance</a:t>
            </a:r>
            <a:endParaRPr lang="en-US" sz="1300" dirty="0"/>
          </a:p>
        </p:txBody>
      </p:sp>
      <p:sp>
        <p:nvSpPr>
          <p:cNvPr id="20" name="Text 14"/>
          <p:cNvSpPr/>
          <p:nvPr/>
        </p:nvSpPr>
        <p:spPr>
          <a:xfrm>
            <a:off x="3200400" y="2505456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should inform, not replace, human HR judgement</a:t>
            </a:r>
            <a:endParaRPr lang="en-US" sz="1100" dirty="0"/>
          </a:p>
        </p:txBody>
      </p:sp>
      <p:sp>
        <p:nvSpPr>
          <p:cNvPr id="21" name="Shape 15"/>
          <p:cNvSpPr/>
          <p:nvPr/>
        </p:nvSpPr>
        <p:spPr>
          <a:xfrm>
            <a:off x="7589520" y="2578608"/>
            <a:ext cx="365760" cy="365760"/>
          </a:xfrm>
          <a:prstGeom prst="ellipse">
            <a:avLst/>
          </a:prstGeom>
          <a:solidFill>
            <a:srgbClr val="FF9800"/>
          </a:solidFill>
          <a:ln/>
        </p:spPr>
      </p:sp>
      <p:sp>
        <p:nvSpPr>
          <p:cNvPr id="22" name="Text 16"/>
          <p:cNvSpPr/>
          <p:nvPr/>
        </p:nvSpPr>
        <p:spPr>
          <a:xfrm>
            <a:off x="7589520" y="25786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1200" dirty="0"/>
          </a:p>
        </p:txBody>
      </p:sp>
      <p:sp>
        <p:nvSpPr>
          <p:cNvPr id="23" name="Shape 17"/>
          <p:cNvSpPr/>
          <p:nvPr/>
        </p:nvSpPr>
        <p:spPr>
          <a:xfrm>
            <a:off x="731520" y="3163824"/>
            <a:ext cx="7680960" cy="62179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3300984"/>
            <a:ext cx="365760" cy="365760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1417320" y="3209544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 Drift</a:t>
            </a:r>
            <a:endParaRPr lang="en-US" sz="1300" dirty="0"/>
          </a:p>
        </p:txBody>
      </p:sp>
      <p:sp>
        <p:nvSpPr>
          <p:cNvPr id="26" name="Text 19"/>
          <p:cNvSpPr/>
          <p:nvPr/>
        </p:nvSpPr>
        <p:spPr>
          <a:xfrm>
            <a:off x="3200400" y="3255264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Quarterly retraining and monitoring plan required</a:t>
            </a:r>
            <a:endParaRPr lang="en-US" sz="1100" dirty="0"/>
          </a:p>
        </p:txBody>
      </p:sp>
      <p:sp>
        <p:nvSpPr>
          <p:cNvPr id="27" name="Shape 20"/>
          <p:cNvSpPr/>
          <p:nvPr/>
        </p:nvSpPr>
        <p:spPr>
          <a:xfrm>
            <a:off x="7589520" y="3328416"/>
            <a:ext cx="365760" cy="365760"/>
          </a:xfrm>
          <a:prstGeom prst="ellipse">
            <a:avLst/>
          </a:prstGeom>
          <a:solidFill>
            <a:srgbClr val="28A745"/>
          </a:solidFill>
          <a:ln/>
        </p:spPr>
      </p:sp>
      <p:sp>
        <p:nvSpPr>
          <p:cNvPr id="28" name="Text 21"/>
          <p:cNvSpPr/>
          <p:nvPr/>
        </p:nvSpPr>
        <p:spPr>
          <a:xfrm>
            <a:off x="7589520" y="33284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</a:t>
            </a:r>
            <a:endParaRPr lang="en-US" sz="1200" dirty="0"/>
          </a:p>
        </p:txBody>
      </p:sp>
      <p:sp>
        <p:nvSpPr>
          <p:cNvPr id="29" name="Shape 22"/>
          <p:cNvSpPr/>
          <p:nvPr/>
        </p:nvSpPr>
        <p:spPr>
          <a:xfrm>
            <a:off x="731520" y="4023360"/>
            <a:ext cx="7680960" cy="777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4400" y="4114800"/>
            <a:ext cx="274320" cy="274320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1371600" y="406908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principle: </a:t>
            </a:r>
            <a:pPr indent="0" marL="0">
              <a:buNone/>
            </a:pPr>
            <a:r>
              <a:rPr lang="en-US" sz="1000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WorkPulse is a decision-support tool. All flagged employees receive a compassionate, confidential conversation before any action.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96167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228600"/>
            <a:ext cx="365760" cy="3657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34440" y="2286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Recommended Next Steps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731520" y="1051560"/>
            <a:ext cx="502920" cy="50292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6" name="Text 3"/>
          <p:cNvSpPr/>
          <p:nvPr/>
        </p:nvSpPr>
        <p:spPr>
          <a:xfrm>
            <a:off x="731520" y="10515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Q1</a:t>
            </a:r>
            <a:endParaRPr lang="en-US" sz="11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20" y="1097280"/>
            <a:ext cx="320040" cy="32004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874520" y="10058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Pilot Programme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1874520" y="132588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with 2 volunteer departments (200 employees). Validate predictions against real outcomes.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731520" y="196596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7"/>
          <p:cNvSpPr/>
          <p:nvPr/>
        </p:nvSpPr>
        <p:spPr>
          <a:xfrm>
            <a:off x="731520" y="1965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Q2</a:t>
            </a:r>
            <a:endParaRPr lang="en-US" sz="11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7320" y="2011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874520" y="1920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Integration &amp; Training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1874520" y="224028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to HRIS data feeds. Train HR partners on interpreting risk scores.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731520" y="288036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6" name="Text 11"/>
          <p:cNvSpPr/>
          <p:nvPr/>
        </p:nvSpPr>
        <p:spPr>
          <a:xfrm>
            <a:off x="731520" y="2880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Q3</a:t>
            </a:r>
            <a:endParaRPr lang="en-US" sz="110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17320" y="2926080"/>
            <a:ext cx="320040" cy="32004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874520" y="28346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Full Rollout</a:t>
            </a:r>
            <a:endParaRPr lang="en-US" sz="1400" dirty="0"/>
          </a:p>
        </p:txBody>
      </p:sp>
      <p:sp>
        <p:nvSpPr>
          <p:cNvPr id="19" name="Text 13"/>
          <p:cNvSpPr/>
          <p:nvPr/>
        </p:nvSpPr>
        <p:spPr>
          <a:xfrm>
            <a:off x="1874520" y="315468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 to all departments. Implement automated monthly retraining pipeline.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731520" y="379476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1" name="Text 15"/>
          <p:cNvSpPr/>
          <p:nvPr/>
        </p:nvSpPr>
        <p:spPr>
          <a:xfrm>
            <a:off x="731520" y="3794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Q4</a:t>
            </a:r>
            <a:endParaRPr lang="en-US" sz="1100" dirty="0"/>
          </a:p>
        </p:txBody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17320" y="3840480"/>
            <a:ext cx="320040" cy="32004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1874520" y="37490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Impact Assessment</a:t>
            </a:r>
            <a:endParaRPr lang="en-US" sz="1400" dirty="0"/>
          </a:p>
        </p:txBody>
      </p:sp>
      <p:sp>
        <p:nvSpPr>
          <p:cNvPr id="24" name="Text 17"/>
          <p:cNvSpPr/>
          <p:nvPr/>
        </p:nvSpPr>
        <p:spPr>
          <a:xfrm>
            <a:off x="1874520" y="406908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reduction in attrition, absenteeism. Calculate actual ROI.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F96167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60520" y="914400"/>
            <a:ext cx="822960" cy="8229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31520" y="182880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</a:t>
            </a:r>
            <a:endParaRPr lang="en-US" sz="4800" dirty="0"/>
          </a:p>
        </p:txBody>
      </p:sp>
      <p:sp>
        <p:nvSpPr>
          <p:cNvPr id="6" name="Text 3"/>
          <p:cNvSpPr/>
          <p:nvPr/>
        </p:nvSpPr>
        <p:spPr>
          <a:xfrm>
            <a:off x="731520" y="265176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WorkPulse: Predicting burnout before it costs you your best people.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731520" y="34747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ADB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WorkPulse: Employee Burnout Early Warning System</dc:title>
  <dc:subject>PptxGenJS Presentation</dc:subject>
  <dc:creator>WorkPulse Team</dc:creator>
  <cp:lastModifiedBy>WorkPulse Team</cp:lastModifiedBy>
  <cp:revision>1</cp:revision>
  <dcterms:created xsi:type="dcterms:W3CDTF">2026-03-19T17:23:28Z</dcterms:created>
  <dcterms:modified xsi:type="dcterms:W3CDTF">2026-03-19T17:23:28Z</dcterms:modified>
</cp:coreProperties>
</file>