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98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XGBoost
(Tuned)</c:v>
                </c:pt>
                <c:pt idx="1">
                  <c:v>LightGBM
(Tuned)</c:v>
                </c:pt>
                <c:pt idx="2">
                  <c:v>Stacking
Ensemble</c:v>
                </c:pt>
                <c:pt idx="3">
                  <c:v>MLP
Neural Net</c:v>
                </c:pt>
                <c:pt idx="4">
                  <c:v>Logistic
Regression</c:v>
                </c:pt>
                <c:pt idx="5">
                  <c:v>Random
Forest</c:v>
                </c:pt>
                <c:pt idx="6">
                  <c:v>Dummy
Baseline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0.91</c:v>
                </c:pt>
                <c:pt idx="1">
                  <c:v>0.9</c:v>
                </c:pt>
                <c:pt idx="2">
                  <c:v>0.89</c:v>
                </c:pt>
                <c:pt idx="3">
                  <c:v>0.89</c:v>
                </c:pt>
                <c:pt idx="4">
                  <c:v>0.82</c:v>
                </c:pt>
                <c:pt idx="5">
                  <c:v>0.89</c:v>
                </c:pt>
                <c:pt idx="6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6D-8648-9A82-19B25E2B62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Impact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High Stress Flag</c:v>
                </c:pt>
                <c:pt idx="1">
                  <c:v>Overtime Index</c:v>
                </c:pt>
                <c:pt idx="2">
                  <c:v>Tenure Risk Window</c:v>
                </c:pt>
                <c:pt idx="3">
                  <c:v>Low Wellbeing</c:v>
                </c:pt>
                <c:pt idx="4">
                  <c:v>Tenure Years</c:v>
                </c:pt>
                <c:pt idx="5">
                  <c:v>Satisfaction Gap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2.8</c:v>
                </c:pt>
                <c:pt idx="2">
                  <c:v>1.5</c:v>
                </c:pt>
                <c:pt idx="3">
                  <c:v>1.4</c:v>
                </c:pt>
                <c:pt idx="4">
                  <c:v>1.2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49-144B-94EC-5EAEC16922B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7867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144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9144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WORKPULSE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31520" y="1737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Employee Burnout Early Warning System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2651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 |  Capstone Project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286000"/>
            <a:ext cx="2560320" cy="2560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Graduate Programme in AI &amp; Machine Learning</a:t>
            </a:r>
            <a:endParaRPr lang="en-US" sz="12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C503D579-849F-124E-3CE0-F5D41273A857}"/>
              </a:ext>
            </a:extLst>
          </p:cNvPr>
          <p:cNvSpPr/>
          <p:nvPr/>
        </p:nvSpPr>
        <p:spPr>
          <a:xfrm>
            <a:off x="73152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Jesse Liamzon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743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Problem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31520" y="9144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burnout costs billions annually through turnover, absenteeism, and lost productivity — yet most companies detect it only after employees resign.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74320"/>
            <a:ext cx="2011680" cy="2011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1520" y="201168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31520" y="2011680"/>
            <a:ext cx="201168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2194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$322B</a:t>
            </a:r>
            <a:endParaRPr lang="en-US" sz="3800" dirty="0"/>
          </a:p>
        </p:txBody>
      </p:sp>
      <p:sp>
        <p:nvSpPr>
          <p:cNvPr id="10" name="Text 6"/>
          <p:cNvSpPr/>
          <p:nvPr/>
        </p:nvSpPr>
        <p:spPr>
          <a:xfrm>
            <a:off x="868680" y="3017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global cost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 turnover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017520" y="201168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017520" y="2011680"/>
            <a:ext cx="2011680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9"/>
          <p:cNvSpPr/>
          <p:nvPr/>
        </p:nvSpPr>
        <p:spPr>
          <a:xfrm>
            <a:off x="3017520" y="2194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76%</a:t>
            </a:r>
            <a:endParaRPr lang="en-US" sz="3800" dirty="0"/>
          </a:p>
        </p:txBody>
      </p:sp>
      <p:sp>
        <p:nvSpPr>
          <p:cNvPr id="14" name="Text 10"/>
          <p:cNvSpPr/>
          <p:nvPr/>
        </p:nvSpPr>
        <p:spPr>
          <a:xfrm>
            <a:off x="3154680" y="3017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report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symptoms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303520" y="201168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303520" y="2011680"/>
            <a:ext cx="2011680" cy="457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7" name="Text 13"/>
          <p:cNvSpPr/>
          <p:nvPr/>
        </p:nvSpPr>
        <p:spPr>
          <a:xfrm>
            <a:off x="5303520" y="2194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7A2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3.4×</a:t>
            </a:r>
            <a:endParaRPr lang="en-US" sz="3800" dirty="0"/>
          </a:p>
        </p:txBody>
      </p:sp>
      <p:sp>
        <p:nvSpPr>
          <p:cNvPr id="18" name="Text 14"/>
          <p:cNvSpPr/>
          <p:nvPr/>
        </p:nvSpPr>
        <p:spPr>
          <a:xfrm>
            <a:off x="5440680" y="3017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attrition 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burnout-affected teams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Gallup State of the Global Workplace 2024, WHO Burnout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286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Solution: WorkPulse</a:t>
            </a:r>
            <a:endParaRPr lang="en-US" sz="2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91440"/>
            <a:ext cx="2011680" cy="2011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8229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system that predicts burnout risk before it leads to attrition — enabling proactive, targeted HR interventions.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731520" y="1554480"/>
            <a:ext cx="3657600" cy="1188720"/>
          </a:xfrm>
          <a:prstGeom prst="rect">
            <a:avLst/>
          </a:prstGeom>
          <a:solidFill>
            <a:srgbClr val="F8F9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31520" y="1554480"/>
            <a:ext cx="54864" cy="1188720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69164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5880" y="16642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Detection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960120" y="2103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at-risk employees weeks before symptoms escalate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846320" y="1554480"/>
            <a:ext cx="3657600" cy="1188720"/>
          </a:xfrm>
          <a:prstGeom prst="rect">
            <a:avLst/>
          </a:prstGeom>
          <a:solidFill>
            <a:srgbClr val="F8F9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4846320" y="1554480"/>
            <a:ext cx="54864" cy="1188720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169164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40680" y="16642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Explainable AI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5074920" y="2103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explanations tell managers exactly which factors drive risk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731520" y="3017520"/>
            <a:ext cx="3657600" cy="1188720"/>
          </a:xfrm>
          <a:prstGeom prst="rect">
            <a:avLst/>
          </a:prstGeom>
          <a:solidFill>
            <a:srgbClr val="F8F9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31520" y="3017520"/>
            <a:ext cx="54864" cy="1188720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154680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25880" y="31272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 &amp; Auditable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960120" y="3566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Bias-tested across gender, age, and income groups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4846320" y="3017520"/>
            <a:ext cx="3657600" cy="1188720"/>
          </a:xfrm>
          <a:prstGeom prst="rect">
            <a:avLst/>
          </a:prstGeom>
          <a:solidFill>
            <a:srgbClr val="F8F9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4846320" y="3017520"/>
            <a:ext cx="54864" cy="1188720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440680" y="31272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Actionable Output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5074920" y="3566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scores + intervention recommendations per employee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960120" y="1005840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100584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2011680" y="1463040"/>
            <a:ext cx="731520" cy="0"/>
          </a:xfrm>
          <a:prstGeom prst="line">
            <a:avLst/>
          </a:prstGeom>
          <a:noFill/>
          <a:ln w="25400">
            <a:solidFill>
              <a:srgbClr val="ADB5B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103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48640" y="2468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survey data, work hours, satisfaction scores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54680" y="1005840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54680" y="100584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0"/>
          <p:cNvSpPr/>
          <p:nvPr/>
        </p:nvSpPr>
        <p:spPr>
          <a:xfrm>
            <a:off x="3154680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4206240" y="1463040"/>
            <a:ext cx="731520" cy="0"/>
          </a:xfrm>
          <a:prstGeom prst="line">
            <a:avLst/>
          </a:prstGeom>
          <a:noFill/>
          <a:ln w="25400">
            <a:solidFill>
              <a:srgbClr val="ADB5B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0" y="2103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2743200" y="2468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identifies burnout patterns from 13 key factors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349240" y="1005840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49240" y="100584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6"/>
          <p:cNvSpPr/>
          <p:nvPr/>
        </p:nvSpPr>
        <p:spPr>
          <a:xfrm>
            <a:off x="5349240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6400800" y="1463040"/>
            <a:ext cx="731520" cy="0"/>
          </a:xfrm>
          <a:prstGeom prst="line">
            <a:avLst/>
          </a:prstGeom>
          <a:noFill/>
          <a:ln w="25400">
            <a:solidFill>
              <a:srgbClr val="ADB5B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37760" y="2103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4937760" y="2468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employee gets a risk score (0-100%)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543800" y="1005840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543800" y="100584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5" name="Text 22"/>
          <p:cNvSpPr/>
          <p:nvPr/>
        </p:nvSpPr>
        <p:spPr>
          <a:xfrm>
            <a:off x="7543800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7132320" y="2103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7132320" y="2468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receive alerts + intervention guidance</a:t>
            </a:r>
            <a:endParaRPr lang="en-US" sz="11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383280"/>
            <a:ext cx="365760" cy="365760"/>
          </a:xfrm>
          <a:prstGeom prst="rect">
            <a:avLst/>
          </a:prstGeom>
        </p:spPr>
      </p:pic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3383280"/>
            <a:ext cx="365760" cy="365760"/>
          </a:xfrm>
          <a:prstGeom prst="rect">
            <a:avLst/>
          </a:prstGeom>
        </p:spPr>
      </p:pic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3383280"/>
            <a:ext cx="365760" cy="365760"/>
          </a:xfrm>
          <a:prstGeom prst="rect">
            <a:avLst/>
          </a:prstGeom>
        </p:spPr>
      </p:pic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3383280"/>
            <a:ext cx="365760" cy="365760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26"/>
          <p:cNvSpPr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Foundation: </a:t>
            </a: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44,220 employee records from 3 validated HR datasets, augmented to 500K rows. 13 engineered features selected by consensus across 3 statistical methods.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731520" y="1097280"/>
            <a:ext cx="2468880" cy="2743200"/>
          </a:xfrm>
          <a:prstGeom prst="rect">
            <a:avLst/>
          </a:prstGeom>
          <a:solidFill>
            <a:srgbClr val="0F1B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097280"/>
            <a:ext cx="2468880" cy="45720"/>
          </a:xfrm>
          <a:prstGeom prst="rect">
            <a:avLst/>
          </a:prstGeom>
          <a:solidFill>
            <a:srgbClr val="F9E79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128016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18288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91%</a:t>
            </a:r>
            <a:endParaRPr lang="en-US" sz="4800" dirty="0"/>
          </a:p>
        </p:txBody>
      </p:sp>
      <p:sp>
        <p:nvSpPr>
          <p:cNvPr id="9" name="Text 5"/>
          <p:cNvSpPr/>
          <p:nvPr/>
        </p:nvSpPr>
        <p:spPr>
          <a:xfrm>
            <a:off x="731520" y="2743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5840" y="3108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 balance of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and recall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566160" y="1097280"/>
            <a:ext cx="2468880" cy="2743200"/>
          </a:xfrm>
          <a:prstGeom prst="rect">
            <a:avLst/>
          </a:prstGeom>
          <a:solidFill>
            <a:srgbClr val="0F1B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566160" y="1097280"/>
            <a:ext cx="2468880" cy="45720"/>
          </a:xfrm>
          <a:prstGeom prst="rect">
            <a:avLst/>
          </a:prstGeom>
          <a:solidFill>
            <a:srgbClr val="F9E795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128016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66160" y="18288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99%</a:t>
            </a:r>
            <a:endParaRPr lang="en-US" sz="4800" dirty="0"/>
          </a:p>
        </p:txBody>
      </p:sp>
      <p:sp>
        <p:nvSpPr>
          <p:cNvPr id="15" name="Text 10"/>
          <p:cNvSpPr/>
          <p:nvPr/>
        </p:nvSpPr>
        <p:spPr>
          <a:xfrm>
            <a:off x="3566160" y="2743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Score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840480" y="3108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discrimination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risk groups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400800" y="1097280"/>
            <a:ext cx="2468880" cy="2743200"/>
          </a:xfrm>
          <a:prstGeom prst="rect">
            <a:avLst/>
          </a:prstGeom>
          <a:solidFill>
            <a:srgbClr val="0F1B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400800" y="1097280"/>
            <a:ext cx="2468880" cy="45720"/>
          </a:xfrm>
          <a:prstGeom prst="rect">
            <a:avLst/>
          </a:prstGeom>
          <a:solidFill>
            <a:srgbClr val="F9E795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128016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00800" y="18288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4800" dirty="0"/>
          </a:p>
        </p:txBody>
      </p:sp>
      <p:sp>
        <p:nvSpPr>
          <p:cNvPr id="21" name="Text 15"/>
          <p:cNvSpPr/>
          <p:nvPr/>
        </p:nvSpPr>
        <p:spPr>
          <a:xfrm>
            <a:off x="6400800" y="2743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675120" y="3108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90% of all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employees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model configs tested across 5 phases: Baseline → Trees → Ensembles → Deep Learning → Stacking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Comparison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914400"/>
          <a:ext cx="8229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251960"/>
            <a:ext cx="274320" cy="2743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97280" y="4251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selected as production model: best balance of accuracy, fairness, and training speed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Drives Burnout?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 reveals the top factors pushing employees toward burnout risk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188720"/>
          <a:ext cx="82296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297680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9728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insight: Overtime and stress are the strongest levers HR can influence directly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286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Ethical AI &amp; Fairness</a:t>
            </a:r>
            <a:endParaRPr lang="en-US" sz="2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91440"/>
            <a:ext cx="2103120" cy="21031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777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across 3 sensitive attributes for equitable treatment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Fairness 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 Parity (&gt;0.80)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8A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Equalized Odds (gap &lt;0.10)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8A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Disparate Impact (&gt;0.80)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8A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B5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31520" y="3017520"/>
            <a:ext cx="7680960" cy="1554480"/>
          </a:xfrm>
          <a:prstGeom prst="rect">
            <a:avLst/>
          </a:prstGeom>
          <a:solidFill>
            <a:srgbClr val="F8F9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108960"/>
            <a:ext cx="320040" cy="320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371600" y="3108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Mitigation Strategies Implemented</a:t>
            </a:r>
            <a:endParaRPr lang="en-US" sz="1400" dirty="0"/>
          </a:p>
        </p:txBody>
      </p:sp>
      <p:sp>
        <p:nvSpPr>
          <p:cNvPr id="11" name="Text 5"/>
          <p:cNvSpPr/>
          <p:nvPr/>
        </p:nvSpPr>
        <p:spPr>
          <a:xfrm>
            <a:off x="914400" y="3520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Group-specific threshold adjustment </a:t>
            </a: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equalise true positive rates across gender groups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Class-weighted re-training </a:t>
            </a: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balance learning signal across subpopulations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Proxy feature correlation audit </a:t>
            </a: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detect and flag indirect discrimination pathways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 on Investment</a:t>
            </a:r>
            <a:endParaRPr lang="en-US" sz="3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286000"/>
            <a:ext cx="2286000" cy="2286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097280"/>
            <a:ext cx="2560320" cy="2560320"/>
          </a:xfrm>
          <a:prstGeom prst="rect">
            <a:avLst/>
          </a:prstGeom>
          <a:solidFill>
            <a:srgbClr val="0F1B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9436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Without WorkPulse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C3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$4.5M</a:t>
            </a:r>
            <a:endParaRPr lang="en-US" sz="4400" dirty="0"/>
          </a:p>
        </p:txBody>
      </p:sp>
      <p:sp>
        <p:nvSpPr>
          <p:cNvPr id="9" name="Text 5"/>
          <p:cNvSpPr/>
          <p:nvPr/>
        </p:nvSpPr>
        <p:spPr>
          <a:xfrm>
            <a:off x="731520" y="26517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turnover cost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(300 departures × $15K)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291840" y="1097280"/>
            <a:ext cx="2560320" cy="2560320"/>
          </a:xfrm>
          <a:prstGeom prst="rect">
            <a:avLst/>
          </a:prstGeom>
          <a:solidFill>
            <a:srgbClr val="0F1B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42900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Savings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29184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8A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$2.7M</a:t>
            </a:r>
            <a:endParaRPr lang="en-US" sz="4400" dirty="0"/>
          </a:p>
        </p:txBody>
      </p:sp>
      <p:sp>
        <p:nvSpPr>
          <p:cNvPr id="13" name="Text 9"/>
          <p:cNvSpPr/>
          <p:nvPr/>
        </p:nvSpPr>
        <p:spPr>
          <a:xfrm>
            <a:off x="3566160" y="26517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catches 90% of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employees early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097280"/>
            <a:ext cx="2560320" cy="2560320"/>
          </a:xfrm>
          <a:prstGeom prst="rect">
            <a:avLst/>
          </a:prstGeom>
          <a:solidFill>
            <a:srgbClr val="0F1B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26364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ROI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2648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620%</a:t>
            </a:r>
            <a:endParaRPr lang="en-US" sz="4400" dirty="0"/>
          </a:p>
        </p:txBody>
      </p:sp>
      <p:sp>
        <p:nvSpPr>
          <p:cNvPr id="17" name="Text 13"/>
          <p:cNvSpPr/>
          <p:nvPr/>
        </p:nvSpPr>
        <p:spPr>
          <a:xfrm>
            <a:off x="6400800" y="26517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$450K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cost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31520" y="4114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2,000 employees, 15% attrition baseline, $15K avg replacement cost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&amp; Considerations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731520" y="914400"/>
            <a:ext cx="76809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0515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7320" y="960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200400" y="10058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on survey data; real org data may differ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589520" y="1078992"/>
            <a:ext cx="365760" cy="36576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0" name="Text 6"/>
          <p:cNvSpPr/>
          <p:nvPr/>
        </p:nvSpPr>
        <p:spPr>
          <a:xfrm>
            <a:off x="7589520" y="1078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31520" y="1664208"/>
            <a:ext cx="76809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801368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17099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200400" y="17556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comms and opt-in participation essential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7589520" y="1828800"/>
            <a:ext cx="365760" cy="36576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6" name="Text 11"/>
          <p:cNvSpPr/>
          <p:nvPr/>
        </p:nvSpPr>
        <p:spPr>
          <a:xfrm>
            <a:off x="758952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31520" y="2414016"/>
            <a:ext cx="76809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551176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245973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Over-Reliance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3200400" y="250545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should inform, not replace, human HR judgement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7589520" y="2578608"/>
            <a:ext cx="365760" cy="36576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22" name="Text 16"/>
          <p:cNvSpPr/>
          <p:nvPr/>
        </p:nvSpPr>
        <p:spPr>
          <a:xfrm>
            <a:off x="758952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31520" y="3163824"/>
            <a:ext cx="76809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300984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17320" y="32095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Drift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3200400" y="325526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retraining and monitoring plan required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7589520" y="3328416"/>
            <a:ext cx="365760" cy="36576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28" name="Text 21"/>
          <p:cNvSpPr/>
          <p:nvPr/>
        </p:nvSpPr>
        <p:spPr>
          <a:xfrm>
            <a:off x="758952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731520" y="402336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11480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371600" y="40690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</a:t>
            </a: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WorkPulse is a decision-support tool. All flagged employees receive a compassionate, confidential conversation before any action.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Next Steps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731520" y="10515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10972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74520" y="1005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Programme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874520" y="13258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with 2 volunteer departments (200 employees). Validate predictions against real outcomes.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3152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2011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7452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 &amp; Training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874520" y="22402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HRIS data feeds. Train HR partners on interpreting risk scores.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731520" y="2880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1"/>
          <p:cNvSpPr/>
          <p:nvPr/>
        </p:nvSpPr>
        <p:spPr>
          <a:xfrm>
            <a:off x="73152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7320" y="292608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7452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Rollout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874520" y="31546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all departments. Implement automated monthly retraining pipeline.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31520" y="3794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5"/>
          <p:cNvSpPr/>
          <p:nvPr/>
        </p:nvSpPr>
        <p:spPr>
          <a:xfrm>
            <a:off x="73152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11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7320" y="384048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87452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Assessment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1874520" y="40690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reduction in attrition, absenteeism. Calculate actual ROI.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WorkPulse: Predicting burnout before it costs you your best people.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624</Words>
  <Application>Microsoft Macintosh PowerPoint</Application>
  <PresentationFormat>On-screen Show (16:9)</PresentationFormat>
  <Paragraphs>142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WorkPulse: Employee Burnout Early Warning System</dc:title>
  <dc:subject>PptxGenJS Presentation</dc:subject>
  <dc:creator>WorkPulse Team</dc:creator>
  <cp:lastModifiedBy>Jesse Liamzon</cp:lastModifiedBy>
  <cp:revision>2</cp:revision>
  <dcterms:created xsi:type="dcterms:W3CDTF">2026-03-19T17:23:28Z</dcterms:created>
  <dcterms:modified xsi:type="dcterms:W3CDTF">2026-03-19T17:52:44Z</dcterms:modified>
</cp:coreProperties>
</file>